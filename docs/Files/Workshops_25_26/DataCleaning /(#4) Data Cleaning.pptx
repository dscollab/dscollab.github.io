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Anta"/>
      <p:regular r:id="rId30"/>
    </p:embeddedFont>
    <p:embeddedFont>
      <p:font typeface="Cabin Condensed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hFZERc5tesYSNgddko3/oAarmj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binCondensed-regular.fntdata"/><Relationship Id="rId30" Type="http://schemas.openxmlformats.org/officeDocument/2006/relationships/font" Target="fonts/Anta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CabinCondensed-bold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c68bc2b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85c68bc2bb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adc4c1b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a5adc4c1b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b214379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9b214379d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adc4c1b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a5adc4c1b3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5adc4c1b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a5adc4c1b3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adc4c1b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a5adc4c1b3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5adc4c1b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a5adc4c1b3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5adc4c1b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a5adc4c1b3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5adc4c1b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a5adc4c1b3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5adc4c1b3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a5adc4c1b3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5adc4c1b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a5adc4c1b3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5adc4c1b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a5adc4c1b3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5adc4c1b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a5adc4c1b3_0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5adc4c1b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a5adc4c1b3_0_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5adc4c1b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a5adc4c1b3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5adc4c1b3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3a5adc4c1b3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5adc4c1b3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a5adc4c1b3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5adc4c1b3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a5adc4c1b3_0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5adc4c1b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a5adc4c1b3_0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b7951dca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g39b7951dcad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tinyurl.com/data-cleaning-2025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5c68bc2bb_1_57"/>
          <p:cNvSpPr/>
          <p:nvPr/>
        </p:nvSpPr>
        <p:spPr>
          <a:xfrm rot="5400000">
            <a:off x="4018981" y="864980"/>
            <a:ext cx="10250048" cy="8568640"/>
          </a:xfrm>
          <a:custGeom>
            <a:rect b="b" l="l" r="r" t="t"/>
            <a:pathLst>
              <a:path extrusionOk="0" h="2227067" w="3882594">
                <a:moveTo>
                  <a:pt x="0" y="0"/>
                </a:moveTo>
                <a:lnTo>
                  <a:pt x="3882594" y="0"/>
                </a:lnTo>
                <a:lnTo>
                  <a:pt x="3882594" y="2227067"/>
                </a:lnTo>
                <a:lnTo>
                  <a:pt x="0" y="222706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5" name="Google Shape;85;g385c68bc2bb_1_57"/>
          <p:cNvSpPr txBox="1"/>
          <p:nvPr/>
        </p:nvSpPr>
        <p:spPr>
          <a:xfrm>
            <a:off x="9882136" y="5481637"/>
            <a:ext cx="30114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49"/>
              <a:buFont typeface="Arial"/>
              <a:buNone/>
            </a:pPr>
            <a:r>
              <a:rPr b="0" i="0" lang="en-US" sz="3249" u="none" cap="none" strike="noStrike">
                <a:solidFill>
                  <a:srgbClr val="FFFFFF"/>
                </a:solidFill>
                <a:latin typeface="Anta"/>
                <a:ea typeface="Anta"/>
                <a:cs typeface="Anta"/>
                <a:sym typeface="Anta"/>
              </a:rPr>
              <a:t>Intro to Python +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g385c68bc2bb_1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3988" y="3916625"/>
            <a:ext cx="8500025" cy="27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85c68bc2bb_1_57"/>
          <p:cNvSpPr txBox="1"/>
          <p:nvPr/>
        </p:nvSpPr>
        <p:spPr>
          <a:xfrm rot="-250087">
            <a:off x="6227886" y="1989101"/>
            <a:ext cx="5402890" cy="2308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F8E64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85c68bc2bb_1_57"/>
          <p:cNvSpPr/>
          <p:nvPr/>
        </p:nvSpPr>
        <p:spPr>
          <a:xfrm>
            <a:off x="4859525" y="25"/>
            <a:ext cx="8568600" cy="1938000"/>
          </a:xfrm>
          <a:prstGeom prst="rect">
            <a:avLst/>
          </a:prstGeom>
          <a:solidFill>
            <a:srgbClr val="FDE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85c68bc2bb_1_57"/>
          <p:cNvSpPr/>
          <p:nvPr/>
        </p:nvSpPr>
        <p:spPr>
          <a:xfrm>
            <a:off x="4859525" y="8253975"/>
            <a:ext cx="8568600" cy="2033100"/>
          </a:xfrm>
          <a:prstGeom prst="rect">
            <a:avLst/>
          </a:prstGeom>
          <a:solidFill>
            <a:srgbClr val="FDE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85c68bc2bb_1_57"/>
          <p:cNvSpPr/>
          <p:nvPr/>
        </p:nvSpPr>
        <p:spPr>
          <a:xfrm rot="5400000">
            <a:off x="12523252" y="2477898"/>
            <a:ext cx="6318922" cy="5239175"/>
          </a:xfrm>
          <a:custGeom>
            <a:rect b="b" l="l" r="r" t="t"/>
            <a:pathLst>
              <a:path extrusionOk="0" h="2227067" w="3882594">
                <a:moveTo>
                  <a:pt x="0" y="0"/>
                </a:moveTo>
                <a:lnTo>
                  <a:pt x="3882594" y="0"/>
                </a:lnTo>
                <a:lnTo>
                  <a:pt x="3882594" y="2227067"/>
                </a:lnTo>
                <a:lnTo>
                  <a:pt x="0" y="222706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1" name="Google Shape;91;g385c68bc2bb_1_57"/>
          <p:cNvSpPr/>
          <p:nvPr/>
        </p:nvSpPr>
        <p:spPr>
          <a:xfrm rot="5400000">
            <a:off x="-458881" y="2388816"/>
            <a:ext cx="6318922" cy="5417340"/>
          </a:xfrm>
          <a:custGeom>
            <a:rect b="b" l="l" r="r" t="t"/>
            <a:pathLst>
              <a:path extrusionOk="0" h="2227067" w="3882594">
                <a:moveTo>
                  <a:pt x="0" y="0"/>
                </a:moveTo>
                <a:lnTo>
                  <a:pt x="3882594" y="0"/>
                </a:lnTo>
                <a:lnTo>
                  <a:pt x="3882594" y="2227067"/>
                </a:lnTo>
                <a:lnTo>
                  <a:pt x="0" y="222706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2" name="Google Shape;92;g385c68bc2bb_1_57"/>
          <p:cNvSpPr/>
          <p:nvPr/>
        </p:nvSpPr>
        <p:spPr>
          <a:xfrm>
            <a:off x="11391025" y="8253975"/>
            <a:ext cx="6911400" cy="2033100"/>
          </a:xfrm>
          <a:prstGeom prst="rect">
            <a:avLst/>
          </a:prstGeom>
          <a:solidFill>
            <a:srgbClr val="FDE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85c68bc2bb_1_57"/>
          <p:cNvSpPr/>
          <p:nvPr/>
        </p:nvSpPr>
        <p:spPr>
          <a:xfrm>
            <a:off x="-8100" y="8253975"/>
            <a:ext cx="7137900" cy="2033100"/>
          </a:xfrm>
          <a:prstGeom prst="rect">
            <a:avLst/>
          </a:prstGeom>
          <a:solidFill>
            <a:srgbClr val="FDE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85c68bc2bb_1_57"/>
          <p:cNvSpPr/>
          <p:nvPr/>
        </p:nvSpPr>
        <p:spPr>
          <a:xfrm>
            <a:off x="-59950" y="25"/>
            <a:ext cx="8568600" cy="1938000"/>
          </a:xfrm>
          <a:prstGeom prst="rect">
            <a:avLst/>
          </a:prstGeom>
          <a:solidFill>
            <a:srgbClr val="FDE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85c68bc2bb_1_57"/>
          <p:cNvSpPr/>
          <p:nvPr/>
        </p:nvSpPr>
        <p:spPr>
          <a:xfrm>
            <a:off x="10485875" y="0"/>
            <a:ext cx="7802100" cy="1938000"/>
          </a:xfrm>
          <a:prstGeom prst="rect">
            <a:avLst/>
          </a:prstGeom>
          <a:solidFill>
            <a:srgbClr val="FDEF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85c68bc2bb_1_57"/>
          <p:cNvSpPr txBox="1"/>
          <p:nvPr/>
        </p:nvSpPr>
        <p:spPr>
          <a:xfrm>
            <a:off x="6208650" y="6648775"/>
            <a:ext cx="6566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2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Data </a:t>
            </a:r>
            <a:r>
              <a:rPr lang="en-US" sz="5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Cleaning</a:t>
            </a:r>
            <a:endParaRPr b="0" i="0" sz="52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7" name="Google Shape;97;g385c68bc2bb_1_57" title="462543847_2148246222243476_3841800274682213669_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7476" y="3304875"/>
            <a:ext cx="3955688" cy="395566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85c68bc2bb_1_57"/>
          <p:cNvSpPr/>
          <p:nvPr/>
        </p:nvSpPr>
        <p:spPr>
          <a:xfrm flipH="1">
            <a:off x="-321570" y="60460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85c68bc2bb_1_57"/>
          <p:cNvSpPr/>
          <p:nvPr/>
        </p:nvSpPr>
        <p:spPr>
          <a:xfrm>
            <a:off x="403175" y="2056400"/>
            <a:ext cx="4594800" cy="32898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C151A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Take a seat!</a:t>
            </a:r>
            <a:endParaRPr b="0" i="0" sz="5000" u="none" cap="none" strike="noStrike">
              <a:solidFill>
                <a:srgbClr val="0C151A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5000" u="none" cap="none" strike="noStrike">
                <a:solidFill>
                  <a:srgbClr val="0C151A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We’ll start at 7:05pm &lt;3</a:t>
            </a:r>
            <a:endParaRPr b="0" i="0" sz="5000" u="none" cap="none" strike="noStrike">
              <a:solidFill>
                <a:srgbClr val="0C151A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3a5adc4c1b3_0_4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105" name="Google Shape;105;g3a5adc4c1b3_0_4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106" name="Google Shape;106;g3a5adc4c1b3_0_4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g3a5adc4c1b3_0_4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108" name="Google Shape;108;g3a5adc4c1b3_0_4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9" name="Google Shape;109;g3a5adc4c1b3_0_4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g3a5adc4c1b3_0_4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What </a:t>
            </a: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is Data Cleaning?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5adc4c1b3_0_4"/>
          <p:cNvSpPr txBox="1"/>
          <p:nvPr/>
        </p:nvSpPr>
        <p:spPr>
          <a:xfrm>
            <a:off x="2819700" y="2428075"/>
            <a:ext cx="12648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Data that is collected will not always be easy for us to work with! There are often problems with it which we will examine.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 need to “clean” the data (among other things) to make it easy for us to visualize and analyze the data.</a:t>
            </a:r>
            <a:endParaRPr sz="4500"/>
          </a:p>
        </p:txBody>
      </p:sp>
      <p:pic>
        <p:nvPicPr>
          <p:cNvPr id="112" name="Google Shape;112;g3a5adc4c1b3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4725" y="6768775"/>
            <a:ext cx="4338550" cy="325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a5adc4c1b3_0_4"/>
          <p:cNvSpPr/>
          <p:nvPr/>
        </p:nvSpPr>
        <p:spPr>
          <a:xfrm flipH="1">
            <a:off x="-874845" y="61825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g39b214379d7_0_56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119" name="Google Shape;119;g39b214379d7_0_56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120" name="Google Shape;120;g39b214379d7_0_56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g39b214379d7_0_56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122" name="Google Shape;122;g39b214379d7_0_56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3" name="Google Shape;123;g39b214379d7_0_56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g39b214379d7_0_56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Understanding the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b214379d7_0_56"/>
          <p:cNvSpPr txBox="1"/>
          <p:nvPr/>
        </p:nvSpPr>
        <p:spPr>
          <a:xfrm>
            <a:off x="2051100" y="2317900"/>
            <a:ext cx="14185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The Pandas library gives us a very useful tool to see what parts of our data need to be cleaned!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126" name="Google Shape;126;g39b214379d7_0_56"/>
          <p:cNvSpPr txBox="1"/>
          <p:nvPr/>
        </p:nvSpPr>
        <p:spPr>
          <a:xfrm>
            <a:off x="3640072" y="5004587"/>
            <a:ext cx="129234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500" lIns="155500" spcFirstLastPara="1" rIns="155500" wrap="square" tIns="15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1">
              <a:solidFill>
                <a:srgbClr val="00426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7" name="Google Shape;127;g39b214379d7_0_56"/>
          <p:cNvSpPr/>
          <p:nvPr/>
        </p:nvSpPr>
        <p:spPr>
          <a:xfrm>
            <a:off x="7391035" y="5487467"/>
            <a:ext cx="2736600" cy="81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62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500" lIns="155500" spcFirstLastPara="1" rIns="155500" wrap="square" tIns="15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8" name="Google Shape;128;g39b214379d7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150" y="5517060"/>
            <a:ext cx="4088034" cy="759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9b214379d7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4689" y="3887800"/>
            <a:ext cx="4917708" cy="401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9b214379d7_0_56"/>
          <p:cNvSpPr txBox="1"/>
          <p:nvPr/>
        </p:nvSpPr>
        <p:spPr>
          <a:xfrm>
            <a:off x="2960550" y="8157675"/>
            <a:ext cx="12366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.info() allows us to see missing rows, column names and data types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g3a5adc4c1b3_0_26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136" name="Google Shape;136;g3a5adc4c1b3_0_26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137" name="Google Shape;137;g3a5adc4c1b3_0_26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g3a5adc4c1b3_0_26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139" name="Google Shape;139;g3a5adc4c1b3_0_26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40" name="Google Shape;140;g3a5adc4c1b3_0_26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a5adc4c1b3_0_26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Understanding</a:t>
            </a: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 the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a5adc4c1b3_0_26"/>
          <p:cNvSpPr txBox="1"/>
          <p:nvPr/>
        </p:nvSpPr>
        <p:spPr>
          <a:xfrm>
            <a:off x="3388540" y="2507112"/>
            <a:ext cx="111135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8725" lIns="178725" spcFirstLastPara="1" rIns="178725" wrap="square" tIns="178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Recall that we can use .head() to see the first 5 rows of our dataset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pic>
        <p:nvPicPr>
          <p:cNvPr id="143" name="Google Shape;143;g3a5adc4c1b3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224" y="5020806"/>
            <a:ext cx="3856194" cy="70885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5adc4c1b3_0_26"/>
          <p:cNvSpPr/>
          <p:nvPr/>
        </p:nvSpPr>
        <p:spPr>
          <a:xfrm>
            <a:off x="5791374" y="4904968"/>
            <a:ext cx="3145500" cy="94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86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8725" lIns="178725" spcFirstLastPara="1" rIns="178725" wrap="square" tIns="178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6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g3a5adc4c1b3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3527" y="4359056"/>
            <a:ext cx="7744246" cy="217235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a5adc4c1b3_0_26"/>
          <p:cNvSpPr txBox="1"/>
          <p:nvPr/>
        </p:nvSpPr>
        <p:spPr>
          <a:xfrm>
            <a:off x="3299407" y="6922643"/>
            <a:ext cx="112917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8725" lIns="178725" spcFirstLastPara="1" rIns="178725" wrap="square" tIns="1787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 should always understand what our data looks like before trying to mess around with it!</a:t>
            </a:r>
            <a:endParaRPr sz="273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g3a5adc4c1b3_0_47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152" name="Google Shape;152;g3a5adc4c1b3_0_4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153" name="Google Shape;153;g3a5adc4c1b3_0_4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g3a5adc4c1b3_0_47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155" name="Google Shape;155;g3a5adc4c1b3_0_4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56" name="Google Shape;156;g3a5adc4c1b3_0_4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a5adc4c1b3_0_47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Values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a5adc4c1b3_0_47"/>
          <p:cNvSpPr txBox="1"/>
          <p:nvPr/>
        </p:nvSpPr>
        <p:spPr>
          <a:xfrm>
            <a:off x="1540085" y="2140148"/>
            <a:ext cx="15433500" cy="6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000" lIns="183000" spcFirstLastPara="1" rIns="183000" wrap="square" tIns="1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values can take form in many different ways 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pic>
        <p:nvPicPr>
          <p:cNvPr id="159" name="Google Shape;159;g3a5adc4c1b3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475" y="3668984"/>
            <a:ext cx="1706598" cy="1056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a5adc4c1b3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054" y="3701509"/>
            <a:ext cx="1753934" cy="99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a5adc4c1b3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24416" y="3720598"/>
            <a:ext cx="1949778" cy="9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a5adc4c1b3_0_47"/>
          <p:cNvSpPr/>
          <p:nvPr/>
        </p:nvSpPr>
        <p:spPr>
          <a:xfrm rot="7254182">
            <a:off x="4574527" y="5282751"/>
            <a:ext cx="1844674" cy="96298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000" lIns="183000" spcFirstLastPara="1" rIns="183000" wrap="square" tIns="1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2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" name="Google Shape;163;g3a5adc4c1b3_0_47"/>
          <p:cNvSpPr/>
          <p:nvPr/>
        </p:nvSpPr>
        <p:spPr>
          <a:xfrm rot="2700000">
            <a:off x="1729374" y="5245423"/>
            <a:ext cx="1869732" cy="9630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000" lIns="183000" spcFirstLastPara="1" rIns="183000" wrap="square" tIns="1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2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" name="Google Shape;164;g3a5adc4c1b3_0_47"/>
          <p:cNvSpPr txBox="1"/>
          <p:nvPr/>
        </p:nvSpPr>
        <p:spPr>
          <a:xfrm>
            <a:off x="1904575" y="6728525"/>
            <a:ext cx="4263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Actual data types in Python, easily findable by Python</a:t>
            </a:r>
            <a:endParaRPr/>
          </a:p>
        </p:txBody>
      </p:sp>
      <p:pic>
        <p:nvPicPr>
          <p:cNvPr id="165" name="Google Shape;165;g3a5adc4c1b3_0_47" title="Screenshot 2025-11-18 at 5.01.2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15038" y="3722736"/>
            <a:ext cx="2219582" cy="94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g3a5adc4c1b3_0_72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171" name="Google Shape;171;g3a5adc4c1b3_0_72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172" name="Google Shape;172;g3a5adc4c1b3_0_72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g3a5adc4c1b3_0_72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174" name="Google Shape;174;g3a5adc4c1b3_0_72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75" name="Google Shape;175;g3a5adc4c1b3_0_72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a5adc4c1b3_0_72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a5adc4c1b3_0_72"/>
          <p:cNvSpPr txBox="1"/>
          <p:nvPr/>
        </p:nvSpPr>
        <p:spPr>
          <a:xfrm>
            <a:off x="1286250" y="2140153"/>
            <a:ext cx="15715500" cy="17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025" lIns="173025" spcFirstLastPara="1" rIns="173025" wrap="square" tIns="1730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When dealing with NONE or NaN, Pandas gives us simple commands to deal with these missing values: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pic>
        <p:nvPicPr>
          <p:cNvPr id="178" name="Google Shape;178;g3a5adc4c1b3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891" y="4998785"/>
            <a:ext cx="7492822" cy="8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5adc4c1b3_0_72"/>
          <p:cNvSpPr txBox="1"/>
          <p:nvPr/>
        </p:nvSpPr>
        <p:spPr>
          <a:xfrm>
            <a:off x="1411999" y="4099113"/>
            <a:ext cx="150564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025" lIns="173025" spcFirstLastPara="1" rIns="173025" wrap="square" tIns="173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Dropping all rows where missing values are present: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180" name="Google Shape;180;g3a5adc4c1b3_0_72"/>
          <p:cNvSpPr txBox="1"/>
          <p:nvPr/>
        </p:nvSpPr>
        <p:spPr>
          <a:xfrm>
            <a:off x="1500275" y="6154975"/>
            <a:ext cx="153504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025" lIns="173025" spcFirstLastPara="1" rIns="173025" wrap="square" tIns="173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Replacing missing values in a column with mean/median: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pic>
        <p:nvPicPr>
          <p:cNvPr id="181" name="Google Shape;181;g3a5adc4c1b3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224" y="7128628"/>
            <a:ext cx="15350504" cy="9574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g3a5adc4c1b3_0_72"/>
          <p:cNvCxnSpPr/>
          <p:nvPr/>
        </p:nvCxnSpPr>
        <p:spPr>
          <a:xfrm flipH="1" rot="10800000">
            <a:off x="1411989" y="7950326"/>
            <a:ext cx="6049500" cy="13200"/>
          </a:xfrm>
          <a:prstGeom prst="straightConnector1">
            <a:avLst/>
          </a:prstGeom>
          <a:noFill/>
          <a:ln cap="flat" cmpd="sng" w="144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g3a5adc4c1b3_0_72"/>
          <p:cNvSpPr txBox="1"/>
          <p:nvPr/>
        </p:nvSpPr>
        <p:spPr>
          <a:xfrm>
            <a:off x="2919599" y="8210820"/>
            <a:ext cx="30339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025" lIns="173025" spcFirstLastPara="1" rIns="173025" wrap="square" tIns="173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7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Column we want to fix</a:t>
            </a:r>
            <a:endParaRPr sz="2649">
              <a:solidFill>
                <a:srgbClr val="FF0000"/>
              </a:solidFill>
            </a:endParaRPr>
          </a:p>
        </p:txBody>
      </p:sp>
      <p:cxnSp>
        <p:nvCxnSpPr>
          <p:cNvPr id="184" name="Google Shape;184;g3a5adc4c1b3_0_72"/>
          <p:cNvCxnSpPr/>
          <p:nvPr/>
        </p:nvCxnSpPr>
        <p:spPr>
          <a:xfrm>
            <a:off x="7613790" y="7950184"/>
            <a:ext cx="1288800" cy="13500"/>
          </a:xfrm>
          <a:prstGeom prst="straightConnector1">
            <a:avLst/>
          </a:prstGeom>
          <a:noFill/>
          <a:ln cap="flat" cmpd="sng" w="1442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g3a5adc4c1b3_0_72"/>
          <p:cNvSpPr txBox="1"/>
          <p:nvPr/>
        </p:nvSpPr>
        <p:spPr>
          <a:xfrm>
            <a:off x="7204172" y="8086109"/>
            <a:ext cx="21081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025" lIns="173025" spcFirstLastPara="1" rIns="173025" wrap="square" tIns="173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7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Function</a:t>
            </a:r>
            <a:endParaRPr sz="2649">
              <a:solidFill>
                <a:srgbClr val="0000FF"/>
              </a:solidFill>
            </a:endParaRPr>
          </a:p>
        </p:txBody>
      </p:sp>
      <p:cxnSp>
        <p:nvCxnSpPr>
          <p:cNvPr id="186" name="Google Shape;186;g3a5adc4c1b3_0_72"/>
          <p:cNvCxnSpPr/>
          <p:nvPr/>
        </p:nvCxnSpPr>
        <p:spPr>
          <a:xfrm flipH="1" rot="10800000">
            <a:off x="9044141" y="7936684"/>
            <a:ext cx="7512300" cy="13500"/>
          </a:xfrm>
          <a:prstGeom prst="straightConnector1">
            <a:avLst/>
          </a:prstGeom>
          <a:noFill/>
          <a:ln cap="flat" cmpd="sng" w="1442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g3a5adc4c1b3_0_72"/>
          <p:cNvSpPr txBox="1"/>
          <p:nvPr/>
        </p:nvSpPr>
        <p:spPr>
          <a:xfrm>
            <a:off x="9961595" y="7936559"/>
            <a:ext cx="56775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025" lIns="173025" spcFirstLastPara="1" rIns="173025" wrap="square" tIns="173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17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Recall how to find the mean of a column</a:t>
            </a:r>
            <a:endParaRPr sz="2649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g3a5adc4c1b3_0_123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193" name="Google Shape;193;g3a5adc4c1b3_0_123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194" name="Google Shape;194;g3a5adc4c1b3_0_123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g3a5adc4c1b3_0_123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196" name="Google Shape;196;g3a5adc4c1b3_0_123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7" name="Google Shape;197;g3a5adc4c1b3_0_123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a5adc4c1b3_0_123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Values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a5adc4c1b3_0_123"/>
          <p:cNvSpPr txBox="1"/>
          <p:nvPr/>
        </p:nvSpPr>
        <p:spPr>
          <a:xfrm>
            <a:off x="1540085" y="2140148"/>
            <a:ext cx="15433500" cy="6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000" lIns="183000" spcFirstLastPara="1" rIns="183000" wrap="square" tIns="1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values can take form in many different ways 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pic>
        <p:nvPicPr>
          <p:cNvPr id="200" name="Google Shape;200;g3a5adc4c1b3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475" y="3668984"/>
            <a:ext cx="1706598" cy="1056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a5adc4c1b3_0_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054" y="3701509"/>
            <a:ext cx="1753934" cy="99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a5adc4c1b3_0_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24416" y="3720598"/>
            <a:ext cx="1949778" cy="9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a5adc4c1b3_0_123"/>
          <p:cNvSpPr/>
          <p:nvPr/>
        </p:nvSpPr>
        <p:spPr>
          <a:xfrm rot="7254182">
            <a:off x="12866177" y="5316101"/>
            <a:ext cx="1844674" cy="96298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000" lIns="183000" spcFirstLastPara="1" rIns="183000" wrap="square" tIns="1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2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4" name="Google Shape;204;g3a5adc4c1b3_0_123"/>
          <p:cNvSpPr/>
          <p:nvPr/>
        </p:nvSpPr>
        <p:spPr>
          <a:xfrm rot="2700000">
            <a:off x="10021024" y="5278773"/>
            <a:ext cx="1869732" cy="9630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000" lIns="183000" spcFirstLastPara="1" rIns="183000" wrap="square" tIns="1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2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" name="Google Shape;205;g3a5adc4c1b3_0_123"/>
          <p:cNvSpPr txBox="1"/>
          <p:nvPr/>
        </p:nvSpPr>
        <p:spPr>
          <a:xfrm>
            <a:off x="10110000" y="6675675"/>
            <a:ext cx="4263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Harder to identify, but let’s try it!</a:t>
            </a:r>
            <a:endParaRPr/>
          </a:p>
        </p:txBody>
      </p:sp>
      <p:pic>
        <p:nvPicPr>
          <p:cNvPr id="206" name="Google Shape;206;g3a5adc4c1b3_0_123" title="Screenshot 2025-11-18 at 5.01.2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15038" y="3722736"/>
            <a:ext cx="2219582" cy="9489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a5adc4c1b3_0_123"/>
          <p:cNvSpPr/>
          <p:nvPr/>
        </p:nvSpPr>
        <p:spPr>
          <a:xfrm flipH="1">
            <a:off x="-874845" y="61825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a5adc4c1b3_0_102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213" name="Google Shape;213;g3a5adc4c1b3_0_102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214" name="Google Shape;214;g3a5adc4c1b3_0_102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g3a5adc4c1b3_0_102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216" name="Google Shape;216;g3a5adc4c1b3_0_102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17" name="Google Shape;217;g3a5adc4c1b3_0_102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g3a5adc4c1b3_0_102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a5adc4c1b3_0_102"/>
          <p:cNvSpPr txBox="1"/>
          <p:nvPr/>
        </p:nvSpPr>
        <p:spPr>
          <a:xfrm>
            <a:off x="1266000" y="2140150"/>
            <a:ext cx="157560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8300" lIns="208300" spcFirstLastPara="1" rIns="208300" wrap="square" tIns="208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.value_counts() shows all the possible values of a </a:t>
            </a: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categorical column</a:t>
            </a: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 in our dataset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pic>
        <p:nvPicPr>
          <p:cNvPr id="220" name="Google Shape;220;g3a5adc4c1b3_0_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0735" y="3946162"/>
            <a:ext cx="7136134" cy="11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a5adc4c1b3_0_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7724" y="6398951"/>
            <a:ext cx="9162150" cy="22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a5adc4c1b3_0_102"/>
          <p:cNvSpPr/>
          <p:nvPr/>
        </p:nvSpPr>
        <p:spPr>
          <a:xfrm rot="5400000">
            <a:off x="8420562" y="5723051"/>
            <a:ext cx="1446900" cy="70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1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8300" lIns="208300" spcFirstLastPara="1" rIns="208300" wrap="square" tIns="2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89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3" name="Google Shape;223;g3a5adc4c1b3_0_102"/>
          <p:cNvSpPr txBox="1"/>
          <p:nvPr/>
        </p:nvSpPr>
        <p:spPr>
          <a:xfrm>
            <a:off x="2292450" y="8671050"/>
            <a:ext cx="13703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This allows us to identify </a:t>
            </a: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unusual</a:t>
            </a: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 values like “BLANK” or empty spaces that may represent missing data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g3a5adc4c1b3_0_147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229" name="Google Shape;229;g3a5adc4c1b3_0_14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230" name="Google Shape;230;g3a5adc4c1b3_0_14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g3a5adc4c1b3_0_147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232" name="Google Shape;232;g3a5adc4c1b3_0_14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3" name="Google Shape;233;g3a5adc4c1b3_0_14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g3a5adc4c1b3_0_147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a5adc4c1b3_0_147"/>
          <p:cNvSpPr txBox="1"/>
          <p:nvPr/>
        </p:nvSpPr>
        <p:spPr>
          <a:xfrm>
            <a:off x="3009750" y="2140150"/>
            <a:ext cx="12268500" cy="1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8925" lIns="208925" spcFirstLastPara="1" rIns="208925" wrap="square" tIns="208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For numerical variables, we can use histograms to observe odd behavior in our variables</a:t>
            </a:r>
            <a:r>
              <a:rPr b="1" lang="en-US" sz="3884">
                <a:solidFill>
                  <a:srgbClr val="00426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3199"/>
          </a:p>
        </p:txBody>
      </p:sp>
      <p:pic>
        <p:nvPicPr>
          <p:cNvPr id="236" name="Google Shape;236;g3a5adc4c1b3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845" y="3758018"/>
            <a:ext cx="6806184" cy="119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a5adc4c1b3_0_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016" y="6044615"/>
            <a:ext cx="11007842" cy="380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a5adc4c1b3_0_147"/>
          <p:cNvSpPr/>
          <p:nvPr/>
        </p:nvSpPr>
        <p:spPr>
          <a:xfrm rot="5400000">
            <a:off x="8418239" y="5319947"/>
            <a:ext cx="1451400" cy="7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17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8925" lIns="208925" spcFirstLastPara="1" rIns="208925" wrap="square" tIns="20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9" name="Google Shape;239;g3a5adc4c1b3_0_147"/>
          <p:cNvSpPr/>
          <p:nvPr/>
        </p:nvSpPr>
        <p:spPr>
          <a:xfrm>
            <a:off x="11197525" y="7553925"/>
            <a:ext cx="1192500" cy="2413800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a5adc4c1b3_0_147"/>
          <p:cNvSpPr txBox="1"/>
          <p:nvPr/>
        </p:nvSpPr>
        <p:spPr>
          <a:xfrm>
            <a:off x="14647850" y="7114750"/>
            <a:ext cx="33651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Zero cholesterol doesn’t make sense! We can infer that these represent missing values in our dataset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5adc4c1b3_0_170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Missing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g3a5adc4c1b3_0_170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247" name="Google Shape;247;g3a5adc4c1b3_0_170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248" name="Google Shape;248;g3a5adc4c1b3_0_170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g3a5adc4c1b3_0_170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250" name="Google Shape;250;g3a5adc4c1b3_0_170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51" name="Google Shape;251;g3a5adc4c1b3_0_170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2" name="Google Shape;252;g3a5adc4c1b3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24" y="3533776"/>
            <a:ext cx="17105168" cy="814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g3a5adc4c1b3_0_170"/>
          <p:cNvCxnSpPr/>
          <p:nvPr/>
        </p:nvCxnSpPr>
        <p:spPr>
          <a:xfrm flipH="1" rot="10800000">
            <a:off x="550297" y="4348220"/>
            <a:ext cx="3621000" cy="5100"/>
          </a:xfrm>
          <a:prstGeom prst="straightConnector1">
            <a:avLst/>
          </a:prstGeom>
          <a:noFill/>
          <a:ln cap="flat" cmpd="sng" w="1607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g3a5adc4c1b3_0_170"/>
          <p:cNvCxnSpPr/>
          <p:nvPr/>
        </p:nvCxnSpPr>
        <p:spPr>
          <a:xfrm flipH="1" rot="10800000">
            <a:off x="9082750" y="4344232"/>
            <a:ext cx="1785000" cy="13200"/>
          </a:xfrm>
          <a:prstGeom prst="straightConnector1">
            <a:avLst/>
          </a:prstGeom>
          <a:noFill/>
          <a:ln cap="flat" cmpd="sng" w="1607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g3a5adc4c1b3_0_170"/>
          <p:cNvCxnSpPr/>
          <p:nvPr/>
        </p:nvCxnSpPr>
        <p:spPr>
          <a:xfrm flipH="1" rot="10800000">
            <a:off x="11791353" y="4347944"/>
            <a:ext cx="5378400" cy="16500"/>
          </a:xfrm>
          <a:prstGeom prst="straightConnector1">
            <a:avLst/>
          </a:prstGeom>
          <a:noFill/>
          <a:ln cap="flat" cmpd="sng" w="1607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g3a5adc4c1b3_0_170"/>
          <p:cNvSpPr txBox="1"/>
          <p:nvPr/>
        </p:nvSpPr>
        <p:spPr>
          <a:xfrm>
            <a:off x="777582" y="4348258"/>
            <a:ext cx="40053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800" lIns="192800" spcFirstLastPara="1" rIns="192800" wrap="square" tIns="192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5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Column we want to fix</a:t>
            </a:r>
            <a:endParaRPr sz="2952"/>
          </a:p>
        </p:txBody>
      </p:sp>
      <p:sp>
        <p:nvSpPr>
          <p:cNvPr id="257" name="Google Shape;257;g3a5adc4c1b3_0_170"/>
          <p:cNvSpPr txBox="1"/>
          <p:nvPr/>
        </p:nvSpPr>
        <p:spPr>
          <a:xfrm>
            <a:off x="8518412" y="4392862"/>
            <a:ext cx="234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800" lIns="192800" spcFirstLastPara="1" rIns="192800" wrap="square" tIns="192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5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Function</a:t>
            </a:r>
            <a:endParaRPr sz="2952">
              <a:solidFill>
                <a:srgbClr val="0000FF"/>
              </a:solidFill>
            </a:endParaRPr>
          </a:p>
        </p:txBody>
      </p:sp>
      <p:sp>
        <p:nvSpPr>
          <p:cNvPr id="258" name="Google Shape;258;g3a5adc4c1b3_0_170"/>
          <p:cNvSpPr txBox="1"/>
          <p:nvPr/>
        </p:nvSpPr>
        <p:spPr>
          <a:xfrm>
            <a:off x="13838661" y="4347995"/>
            <a:ext cx="38838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800" lIns="192800" spcFirstLastPara="1" rIns="192800" wrap="square" tIns="192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5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Column mean</a:t>
            </a:r>
            <a:endParaRPr sz="2952"/>
          </a:p>
        </p:txBody>
      </p:sp>
      <p:cxnSp>
        <p:nvCxnSpPr>
          <p:cNvPr id="259" name="Google Shape;259;g3a5adc4c1b3_0_170"/>
          <p:cNvCxnSpPr/>
          <p:nvPr/>
        </p:nvCxnSpPr>
        <p:spPr>
          <a:xfrm flipH="1" rot="10800000">
            <a:off x="10969124" y="4349669"/>
            <a:ext cx="564900" cy="7500"/>
          </a:xfrm>
          <a:prstGeom prst="straightConnector1">
            <a:avLst/>
          </a:prstGeom>
          <a:noFill/>
          <a:ln cap="flat" cmpd="sng" w="1607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g3a5adc4c1b3_0_170"/>
          <p:cNvSpPr txBox="1"/>
          <p:nvPr/>
        </p:nvSpPr>
        <p:spPr>
          <a:xfrm>
            <a:off x="10412193" y="4455390"/>
            <a:ext cx="35151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800" lIns="192800" spcFirstLastPara="1" rIns="192800" wrap="square" tIns="192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5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What value we want to replace</a:t>
            </a:r>
            <a:endParaRPr sz="2952">
              <a:solidFill>
                <a:srgbClr val="FF9900"/>
              </a:solidFill>
            </a:endParaRPr>
          </a:p>
        </p:txBody>
      </p:sp>
      <p:sp>
        <p:nvSpPr>
          <p:cNvPr id="261" name="Google Shape;261;g3a5adc4c1b3_0_170"/>
          <p:cNvSpPr txBox="1"/>
          <p:nvPr/>
        </p:nvSpPr>
        <p:spPr>
          <a:xfrm>
            <a:off x="4739233" y="6980847"/>
            <a:ext cx="8470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800" lIns="192800" spcFirstLastPara="1" rIns="192800" wrap="square" tIns="192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28">
                <a:solidFill>
                  <a:srgbClr val="003D6A"/>
                </a:solidFill>
                <a:latin typeface="Raleway"/>
                <a:ea typeface="Raleway"/>
                <a:cs typeface="Raleway"/>
                <a:sym typeface="Raleway"/>
              </a:rPr>
              <a:t>“In the</a:t>
            </a:r>
            <a:r>
              <a:rPr b="1" lang="en-US" sz="4428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US" sz="4428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Cholesterol column</a:t>
            </a:r>
            <a:r>
              <a:rPr b="1" lang="en-US" sz="4428">
                <a:solidFill>
                  <a:srgbClr val="003D6A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b="1" lang="en-US" sz="4428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replace </a:t>
            </a:r>
            <a:r>
              <a:rPr b="1" lang="en-US" sz="4428">
                <a:solidFill>
                  <a:srgbClr val="FF9900"/>
                </a:solidFill>
              </a:rPr>
              <a:t>0</a:t>
            </a:r>
            <a:r>
              <a:rPr b="1" lang="en-US" sz="4428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US" sz="4428">
                <a:solidFill>
                  <a:srgbClr val="003D6A"/>
                </a:solidFill>
                <a:latin typeface="Raleway"/>
                <a:ea typeface="Raleway"/>
                <a:cs typeface="Raleway"/>
                <a:sym typeface="Raleway"/>
              </a:rPr>
              <a:t>with the</a:t>
            </a:r>
            <a:r>
              <a:rPr b="1" lang="en-US" sz="4428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 mean</a:t>
            </a:r>
            <a:r>
              <a:rPr b="1" lang="en-US" sz="4428">
                <a:solidFill>
                  <a:srgbClr val="003D6A"/>
                </a:solidFill>
                <a:latin typeface="Raleway"/>
                <a:ea typeface="Raleway"/>
                <a:cs typeface="Raleway"/>
                <a:sym typeface="Raleway"/>
              </a:rPr>
              <a:t>”</a:t>
            </a:r>
            <a:endParaRPr sz="3796">
              <a:solidFill>
                <a:srgbClr val="38761D"/>
              </a:solidFill>
            </a:endParaRPr>
          </a:p>
        </p:txBody>
      </p:sp>
      <p:sp>
        <p:nvSpPr>
          <p:cNvPr id="262" name="Google Shape;262;g3a5adc4c1b3_0_170"/>
          <p:cNvSpPr txBox="1"/>
          <p:nvPr/>
        </p:nvSpPr>
        <p:spPr>
          <a:xfrm>
            <a:off x="5811286" y="6300517"/>
            <a:ext cx="6326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800" lIns="192800" spcFirstLastPara="1" rIns="192800" wrap="square" tIns="192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85">
                <a:solidFill>
                  <a:srgbClr val="00426E"/>
                </a:solidFill>
                <a:latin typeface="Raleway"/>
                <a:ea typeface="Raleway"/>
                <a:cs typeface="Raleway"/>
                <a:sym typeface="Raleway"/>
              </a:rPr>
              <a:t>In English:</a:t>
            </a:r>
            <a:endParaRPr sz="2952"/>
          </a:p>
        </p:txBody>
      </p:sp>
      <p:sp>
        <p:nvSpPr>
          <p:cNvPr id="263" name="Google Shape;263;g3a5adc4c1b3_0_170"/>
          <p:cNvSpPr/>
          <p:nvPr/>
        </p:nvSpPr>
        <p:spPr>
          <a:xfrm flipH="1">
            <a:off x="-874845" y="61825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5adc4c1b3_0_197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Categorical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g3a5adc4c1b3_0_197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270" name="Google Shape;270;g3a5adc4c1b3_0_19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271" name="Google Shape;271;g3a5adc4c1b3_0_19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g3a5adc4c1b3_0_197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273" name="Google Shape;273;g3a5adc4c1b3_0_19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74" name="Google Shape;274;g3a5adc4c1b3_0_19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5" name="Google Shape;275;g3a5adc4c1b3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8992" y="2733114"/>
            <a:ext cx="4266205" cy="56883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a5adc4c1b3_0_197"/>
          <p:cNvSpPr/>
          <p:nvPr/>
        </p:nvSpPr>
        <p:spPr>
          <a:xfrm flipH="1">
            <a:off x="10455106" y="2220610"/>
            <a:ext cx="4635600" cy="1654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FFFFF"/>
          </a:solidFill>
          <a:ln cap="flat" cmpd="sng" w="19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3100" lIns="183100" spcFirstLastPara="1" rIns="183100" wrap="square" tIns="18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3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7" name="Google Shape;277;g3a5adc4c1b3_0_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6275" y="2140150"/>
            <a:ext cx="2902734" cy="706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a5adc4c1b3_0_1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78192" y="2428896"/>
            <a:ext cx="4189653" cy="12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a5adc4c1b3_0_197"/>
          <p:cNvSpPr txBox="1"/>
          <p:nvPr/>
        </p:nvSpPr>
        <p:spPr>
          <a:xfrm>
            <a:off x="6379042" y="3635657"/>
            <a:ext cx="5529900" cy="58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100" lIns="183100" spcFirstLastPara="1" rIns="183100" wrap="square" tIns="1831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Cabin Condensed"/>
                <a:ea typeface="Cabin Condensed"/>
                <a:cs typeface="Cabin Condensed"/>
                <a:sym typeface="Cabin Condensed"/>
              </a:rPr>
              <a:t>A computer cannot distinguish any real meaning between “Yes” and “No”! We need to turn this into something the computer can </a:t>
            </a:r>
            <a:endParaRPr sz="4500"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Cabin Condensed"/>
                <a:ea typeface="Cabin Condensed"/>
                <a:cs typeface="Cabin Condensed"/>
                <a:sym typeface="Cabin Condensed"/>
              </a:rPr>
              <a:t>understand</a:t>
            </a:r>
            <a:endParaRPr sz="4500"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adc4c1b3_0_246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Categorical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g3a5adc4c1b3_0_246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286" name="Google Shape;286;g3a5adc4c1b3_0_246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287" name="Google Shape;287;g3a5adc4c1b3_0_246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g3a5adc4c1b3_0_246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289" name="Google Shape;289;g3a5adc4c1b3_0_246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0" name="Google Shape;290;g3a5adc4c1b3_0_246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1" name="Google Shape;291;g3a5adc4c1b3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38" y="2731932"/>
            <a:ext cx="2811324" cy="684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a5adc4c1b3_0_2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9563" y="2731925"/>
            <a:ext cx="2607950" cy="723840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a5adc4c1b3_0_246"/>
          <p:cNvSpPr txBox="1"/>
          <p:nvPr/>
        </p:nvSpPr>
        <p:spPr>
          <a:xfrm>
            <a:off x="5148813" y="2672375"/>
            <a:ext cx="78651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One hot encoding: assigning numerical values to categorical data to allow our machines to process it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In this example, we will turn “Yes” into 1, and “No” into 0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294" name="Google Shape;294;g3a5adc4c1b3_0_246"/>
          <p:cNvSpPr/>
          <p:nvPr/>
        </p:nvSpPr>
        <p:spPr>
          <a:xfrm>
            <a:off x="5812726" y="7950000"/>
            <a:ext cx="6537300" cy="66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1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8300" lIns="208300" spcFirstLastPara="1" rIns="208300" wrap="square" tIns="2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89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5adc4c1b3_0_223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Categorical Data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g3a5adc4c1b3_0_223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301" name="Google Shape;301;g3a5adc4c1b3_0_223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302" name="Google Shape;302;g3a5adc4c1b3_0_223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g3a5adc4c1b3_0_223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304" name="Google Shape;304;g3a5adc4c1b3_0_223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05" name="Google Shape;305;g3a5adc4c1b3_0_223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6" name="Google Shape;306;g3a5adc4c1b3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38" y="2731932"/>
            <a:ext cx="2811324" cy="684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a5adc4c1b3_0_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318" y="2731924"/>
            <a:ext cx="10276260" cy="6803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g3a5adc4c1b3_0_223"/>
          <p:cNvCxnSpPr/>
          <p:nvPr/>
        </p:nvCxnSpPr>
        <p:spPr>
          <a:xfrm>
            <a:off x="9122293" y="3412317"/>
            <a:ext cx="4004700" cy="9900"/>
          </a:xfrm>
          <a:prstGeom prst="straightConnector1">
            <a:avLst/>
          </a:prstGeom>
          <a:noFill/>
          <a:ln cap="flat" cmpd="sng" w="1478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g3a5adc4c1b3_0_223"/>
          <p:cNvCxnSpPr/>
          <p:nvPr/>
        </p:nvCxnSpPr>
        <p:spPr>
          <a:xfrm>
            <a:off x="13517269" y="3417263"/>
            <a:ext cx="264900" cy="0"/>
          </a:xfrm>
          <a:prstGeom prst="straightConnector1">
            <a:avLst/>
          </a:prstGeom>
          <a:noFill/>
          <a:ln cap="flat" cmpd="sng" w="1478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g3a5adc4c1b3_0_223"/>
          <p:cNvCxnSpPr/>
          <p:nvPr/>
        </p:nvCxnSpPr>
        <p:spPr>
          <a:xfrm>
            <a:off x="13993995" y="3417263"/>
            <a:ext cx="264900" cy="0"/>
          </a:xfrm>
          <a:prstGeom prst="straightConnector1">
            <a:avLst/>
          </a:prstGeom>
          <a:noFill/>
          <a:ln cap="flat" cmpd="sng" w="1478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g3a5adc4c1b3_0_223"/>
          <p:cNvSpPr txBox="1"/>
          <p:nvPr/>
        </p:nvSpPr>
        <p:spPr>
          <a:xfrm>
            <a:off x="6066209" y="3694299"/>
            <a:ext cx="58188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7325" lIns="177325" spcFirstLastPara="1" rIns="177325" wrap="square" tIns="1773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7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Wherever a value in “Office Hours” is equal to “Yes”:</a:t>
            </a:r>
            <a:endParaRPr b="1" sz="3297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7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Replace with 1</a:t>
            </a:r>
            <a:endParaRPr sz="3297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7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Otherwise replace with 0</a:t>
            </a:r>
            <a:endParaRPr b="1" sz="3297">
              <a:solidFill>
                <a:srgbClr val="99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2" name="Google Shape;312;g3a5adc4c1b3_0_2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09563" y="2731925"/>
            <a:ext cx="2607950" cy="723840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a5adc4c1b3_0_223"/>
          <p:cNvSpPr txBox="1"/>
          <p:nvPr/>
        </p:nvSpPr>
        <p:spPr>
          <a:xfrm>
            <a:off x="5170657" y="6355112"/>
            <a:ext cx="7610100" cy="3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7325" lIns="177325" spcFirstLastPara="1" rIns="177325" wrap="square" tIns="1773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This code and particular strategy ONLY works where there are only two possibilities, in other cases we would use other strategies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5adc4c1b3_0_394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Fixing Data Types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g3a5adc4c1b3_0_394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320" name="Google Shape;320;g3a5adc4c1b3_0_394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321" name="Google Shape;321;g3a5adc4c1b3_0_394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g3a5adc4c1b3_0_394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323" name="Google Shape;323;g3a5adc4c1b3_0_394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24" name="Google Shape;324;g3a5adc4c1b3_0_394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5" name="Google Shape;325;g3a5adc4c1b3_0_3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38" y="2731932"/>
            <a:ext cx="2811324" cy="684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a5adc4c1b3_0_3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318" y="2731924"/>
            <a:ext cx="10276260" cy="6803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g3a5adc4c1b3_0_394"/>
          <p:cNvCxnSpPr/>
          <p:nvPr/>
        </p:nvCxnSpPr>
        <p:spPr>
          <a:xfrm>
            <a:off x="9122293" y="3412317"/>
            <a:ext cx="4004700" cy="9900"/>
          </a:xfrm>
          <a:prstGeom prst="straightConnector1">
            <a:avLst/>
          </a:prstGeom>
          <a:noFill/>
          <a:ln cap="flat" cmpd="sng" w="1478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g3a5adc4c1b3_0_394"/>
          <p:cNvCxnSpPr/>
          <p:nvPr/>
        </p:nvCxnSpPr>
        <p:spPr>
          <a:xfrm>
            <a:off x="13517269" y="3417263"/>
            <a:ext cx="264900" cy="0"/>
          </a:xfrm>
          <a:prstGeom prst="straightConnector1">
            <a:avLst/>
          </a:prstGeom>
          <a:noFill/>
          <a:ln cap="flat" cmpd="sng" w="1478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g3a5adc4c1b3_0_394"/>
          <p:cNvCxnSpPr/>
          <p:nvPr/>
        </p:nvCxnSpPr>
        <p:spPr>
          <a:xfrm>
            <a:off x="13993995" y="3417263"/>
            <a:ext cx="264900" cy="0"/>
          </a:xfrm>
          <a:prstGeom prst="straightConnector1">
            <a:avLst/>
          </a:prstGeom>
          <a:noFill/>
          <a:ln cap="flat" cmpd="sng" w="1478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g3a5adc4c1b3_0_394"/>
          <p:cNvSpPr txBox="1"/>
          <p:nvPr/>
        </p:nvSpPr>
        <p:spPr>
          <a:xfrm>
            <a:off x="6066209" y="3694299"/>
            <a:ext cx="58188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7325" lIns="177325" spcFirstLastPara="1" rIns="177325" wrap="square" tIns="1773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7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Wherever a value in “Office Hours” is equal to “Yes”:</a:t>
            </a:r>
            <a:endParaRPr b="1" sz="3297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7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Replace with 1</a:t>
            </a:r>
            <a:endParaRPr sz="3297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7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Otherwise replace with 0</a:t>
            </a:r>
            <a:endParaRPr b="1" sz="3297">
              <a:solidFill>
                <a:srgbClr val="99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31" name="Google Shape;331;g3a5adc4c1b3_0_3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09563" y="2731925"/>
            <a:ext cx="2607950" cy="723840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a5adc4c1b3_0_394"/>
          <p:cNvSpPr txBox="1"/>
          <p:nvPr/>
        </p:nvSpPr>
        <p:spPr>
          <a:xfrm>
            <a:off x="5170657" y="6355112"/>
            <a:ext cx="7610100" cy="3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7325" lIns="177325" spcFirstLastPara="1" rIns="177325" wrap="square" tIns="1773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This code and particular strategy ONLY works where there are only two possibilities, in other cases we would use other strategies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5adc4c1b3_0_267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Duplicate Observations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8" name="Google Shape;338;g3a5adc4c1b3_0_267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339" name="Google Shape;339;g3a5adc4c1b3_0_26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340" name="Google Shape;340;g3a5adc4c1b3_0_26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g3a5adc4c1b3_0_267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342" name="Google Shape;342;g3a5adc4c1b3_0_267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43" name="Google Shape;343;g3a5adc4c1b3_0_267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g3a5adc4c1b3_0_267"/>
          <p:cNvSpPr txBox="1"/>
          <p:nvPr/>
        </p:nvSpPr>
        <p:spPr>
          <a:xfrm>
            <a:off x="1809450" y="2140150"/>
            <a:ext cx="146691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 always want to </a:t>
            </a:r>
            <a:r>
              <a:rPr b="1"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remove</a:t>
            </a: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 duplicate rows in our data as they don’t provide any new information and can mess up our results</a:t>
            </a:r>
            <a:endParaRPr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345" name="Google Shape;345;g3a5adc4c1b3_0_267"/>
          <p:cNvSpPr txBox="1"/>
          <p:nvPr/>
        </p:nvSpPr>
        <p:spPr>
          <a:xfrm>
            <a:off x="4253550" y="4475025"/>
            <a:ext cx="9780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How to check if our data has duplicate values: </a:t>
            </a:r>
            <a:endParaRPr/>
          </a:p>
        </p:txBody>
      </p:sp>
      <p:pic>
        <p:nvPicPr>
          <p:cNvPr id="346" name="Google Shape;346;g3a5adc4c1b3_0_2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5026" y="5580467"/>
            <a:ext cx="5337442" cy="101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a5adc4c1b3_0_2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93263" y="5539000"/>
            <a:ext cx="939707" cy="10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a5adc4c1b3_0_267"/>
          <p:cNvSpPr/>
          <p:nvPr/>
        </p:nvSpPr>
        <p:spPr>
          <a:xfrm>
            <a:off x="9555621" y="5592670"/>
            <a:ext cx="3574500" cy="9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7925" lIns="187925" spcFirstLastPara="1" rIns="187925" wrap="square" tIns="187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77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9" name="Google Shape;349;g3a5adc4c1b3_0_267"/>
          <p:cNvSpPr txBox="1"/>
          <p:nvPr/>
        </p:nvSpPr>
        <p:spPr>
          <a:xfrm>
            <a:off x="2558250" y="6822150"/>
            <a:ext cx="131715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Here, we have one row which is an exact copy of another one, let’s go handle it!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5adc4c1b3_0_294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Duplicate Observations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" name="Google Shape;355;g3a5adc4c1b3_0_294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356" name="Google Shape;356;g3a5adc4c1b3_0_294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357" name="Google Shape;357;g3a5adc4c1b3_0_294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g3a5adc4c1b3_0_294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359" name="Google Shape;359;g3a5adc4c1b3_0_294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60" name="Google Shape;360;g3a5adc4c1b3_0_294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1" name="Google Shape;361;g3a5adc4c1b3_0_2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036" y="4099950"/>
            <a:ext cx="8811915" cy="11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a5adc4c1b3_0_294"/>
          <p:cNvSpPr txBox="1"/>
          <p:nvPr/>
        </p:nvSpPr>
        <p:spPr>
          <a:xfrm>
            <a:off x="2529600" y="2140150"/>
            <a:ext cx="13228800" cy="1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11125" lIns="211125" spcFirstLastPara="1" rIns="211125" wrap="square" tIns="211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 can remove duplicate observations using a simple function: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363" name="Google Shape;363;g3a5adc4c1b3_0_294"/>
          <p:cNvSpPr txBox="1"/>
          <p:nvPr/>
        </p:nvSpPr>
        <p:spPr>
          <a:xfrm>
            <a:off x="1493400" y="5715000"/>
            <a:ext cx="15301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NOTE: “inplace=True” means you are modifying the original dataset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If you don’t want to do this, set to False and make a copy by assigning it to a variable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5adc4c1b3_0_339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Removing Columns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g3a5adc4c1b3_0_339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370" name="Google Shape;370;g3a5adc4c1b3_0_339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371" name="Google Shape;371;g3a5adc4c1b3_0_339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g3a5adc4c1b3_0_339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373" name="Google Shape;373;g3a5adc4c1b3_0_339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74" name="Google Shape;374;g3a5adc4c1b3_0_339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g3a5adc4c1b3_0_339"/>
          <p:cNvSpPr txBox="1"/>
          <p:nvPr/>
        </p:nvSpPr>
        <p:spPr>
          <a:xfrm>
            <a:off x="2834100" y="2315100"/>
            <a:ext cx="12619800" cy="6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There are many reasons we may want to remove a column from our dataset: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It is an identifier variable (ID, Name, etc.) which is not useful for analysis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 find that it messes up our results somehow or is not useful to us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It has a bunch of missing values     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376" name="Google Shape;376;g3a5adc4c1b3_0_339"/>
          <p:cNvSpPr/>
          <p:nvPr/>
        </p:nvSpPr>
        <p:spPr>
          <a:xfrm flipH="1">
            <a:off x="-874845" y="61825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5adc4c1b3_0_351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Removing Columns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2" name="Google Shape;382;g3a5adc4c1b3_0_351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383" name="Google Shape;383;g3a5adc4c1b3_0_351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384" name="Google Shape;384;g3a5adc4c1b3_0_351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g3a5adc4c1b3_0_351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386" name="Google Shape;386;g3a5adc4c1b3_0_351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87" name="Google Shape;387;g3a5adc4c1b3_0_351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g3a5adc4c1b3_0_3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238" y="3931310"/>
            <a:ext cx="10199522" cy="286109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a5adc4c1b3_0_351"/>
          <p:cNvSpPr/>
          <p:nvPr/>
        </p:nvSpPr>
        <p:spPr>
          <a:xfrm>
            <a:off x="4334433" y="3741000"/>
            <a:ext cx="1294500" cy="758400"/>
          </a:xfrm>
          <a:prstGeom prst="ellipse">
            <a:avLst/>
          </a:prstGeom>
          <a:noFill/>
          <a:ln cap="flat" cmpd="sng" w="4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5350" lIns="235350" spcFirstLastPara="1" rIns="235350" wrap="square" tIns="235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4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0" name="Google Shape;390;g3a5adc4c1b3_0_351"/>
          <p:cNvSpPr/>
          <p:nvPr/>
        </p:nvSpPr>
        <p:spPr>
          <a:xfrm>
            <a:off x="9960398" y="3741000"/>
            <a:ext cx="1623300" cy="758400"/>
          </a:xfrm>
          <a:prstGeom prst="ellipse">
            <a:avLst/>
          </a:prstGeom>
          <a:noFill/>
          <a:ln cap="flat" cmpd="sng" w="4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35350" lIns="235350" spcFirstLastPara="1" rIns="235350" wrap="square" tIns="235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4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1" name="Google Shape;391;g3a5adc4c1b3_0_351"/>
          <p:cNvSpPr txBox="1"/>
          <p:nvPr/>
        </p:nvSpPr>
        <p:spPr>
          <a:xfrm>
            <a:off x="2412900" y="2140150"/>
            <a:ext cx="134622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Suppose we want to remove the “show_id” and “director” columns in this Netflix dataset</a:t>
            </a:r>
            <a:endParaRPr/>
          </a:p>
        </p:txBody>
      </p:sp>
      <p:pic>
        <p:nvPicPr>
          <p:cNvPr id="392" name="Google Shape;392;g3a5adc4c1b3_0_3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4350" y="8059875"/>
            <a:ext cx="12499298" cy="7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a5adc4c1b3_0_351"/>
          <p:cNvSpPr txBox="1"/>
          <p:nvPr/>
        </p:nvSpPr>
        <p:spPr>
          <a:xfrm>
            <a:off x="4240050" y="6987538"/>
            <a:ext cx="9807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We can use the simple function:</a:t>
            </a:r>
            <a:endParaRPr/>
          </a:p>
        </p:txBody>
      </p:sp>
      <p:sp>
        <p:nvSpPr>
          <p:cNvPr id="394" name="Google Shape;394;g3a5adc4c1b3_0_351"/>
          <p:cNvSpPr txBox="1"/>
          <p:nvPr/>
        </p:nvSpPr>
        <p:spPr>
          <a:xfrm>
            <a:off x="2357100" y="9013400"/>
            <a:ext cx="13573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Remember the purpose of “inplace=...”!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5adc4c1b3_0_373"/>
          <p:cNvSpPr txBox="1"/>
          <p:nvPr/>
        </p:nvSpPr>
        <p:spPr>
          <a:xfrm>
            <a:off x="3914400" y="985750"/>
            <a:ext cx="104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lang="en-US" sz="7000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Conclusion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0" name="Google Shape;400;g3a5adc4c1b3_0_373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401" name="Google Shape;401;g3a5adc4c1b3_0_373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402" name="Google Shape;402;g3a5adc4c1b3_0_373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g3a5adc4c1b3_0_373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404" name="Google Shape;404;g3a5adc4c1b3_0_373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05" name="Google Shape;405;g3a5adc4c1b3_0_373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g3a5adc4c1b3_0_373"/>
          <p:cNvSpPr txBox="1"/>
          <p:nvPr/>
        </p:nvSpPr>
        <p:spPr>
          <a:xfrm>
            <a:off x="2520600" y="1916850"/>
            <a:ext cx="13246800" cy="56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In summary, before running any analysis we should do the following to our data: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Use .head() and .info() to understand our data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Identify and handle and missing data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One hot encode categorical variables to prepare for analysis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Drop any duplicate rows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  <a:p>
            <a:pPr indent="-5143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bin Condensed"/>
              <a:buChar char="-"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Remove identifier columns or columns that are not useful</a:t>
            </a:r>
            <a:endParaRPr sz="4500">
              <a:solidFill>
                <a:schemeClr val="dk1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407" name="Google Shape;407;g3a5adc4c1b3_0_373"/>
          <p:cNvSpPr txBox="1"/>
          <p:nvPr/>
        </p:nvSpPr>
        <p:spPr>
          <a:xfrm>
            <a:off x="3822600" y="8068775"/>
            <a:ext cx="10642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Now you’re ready for analysis!</a:t>
            </a:r>
            <a:endParaRPr/>
          </a:p>
        </p:txBody>
      </p:sp>
      <p:pic>
        <p:nvPicPr>
          <p:cNvPr id="408" name="Google Shape;408;g3a5adc4c1b3_0_373" title="Screenshot 2025-11-19 at 1.43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3825" y="7248625"/>
            <a:ext cx="2834175" cy="303837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a5adc4c1b3_0_373"/>
          <p:cNvSpPr/>
          <p:nvPr/>
        </p:nvSpPr>
        <p:spPr>
          <a:xfrm flipH="1">
            <a:off x="-874845" y="61825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g39b7951dcad_0_340"/>
          <p:cNvGrpSpPr/>
          <p:nvPr/>
        </p:nvGrpSpPr>
        <p:grpSpPr>
          <a:xfrm rot="2700000">
            <a:off x="15432012" y="-3173820"/>
            <a:ext cx="6127311" cy="5735188"/>
            <a:chOff x="0" y="-66675"/>
            <a:chExt cx="1613775" cy="1510500"/>
          </a:xfrm>
        </p:grpSpPr>
        <p:sp>
          <p:nvSpPr>
            <p:cNvPr id="415" name="Google Shape;415;g39b7951dcad_0_340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F8E640"/>
            </a:solidFill>
            <a:ln>
              <a:noFill/>
            </a:ln>
          </p:spPr>
        </p:sp>
        <p:sp>
          <p:nvSpPr>
            <p:cNvPr id="416" name="Google Shape;416;g39b7951dcad_0_340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g39b7951dcad_0_340"/>
          <p:cNvGrpSpPr/>
          <p:nvPr/>
        </p:nvGrpSpPr>
        <p:grpSpPr>
          <a:xfrm rot="2700000">
            <a:off x="15643551" y="-3425962"/>
            <a:ext cx="6127311" cy="5735188"/>
            <a:chOff x="0" y="-66675"/>
            <a:chExt cx="1613775" cy="1510500"/>
          </a:xfrm>
        </p:grpSpPr>
        <p:sp>
          <p:nvSpPr>
            <p:cNvPr id="418" name="Google Shape;418;g39b7951dcad_0_340"/>
            <p:cNvSpPr/>
            <p:nvPr/>
          </p:nvSpPr>
          <p:spPr>
            <a:xfrm>
              <a:off x="0" y="0"/>
              <a:ext cx="1613775" cy="1443740"/>
            </a:xfrm>
            <a:custGeom>
              <a:rect b="b" l="l" r="r" t="t"/>
              <a:pathLst>
                <a:path extrusionOk="0" h="1443740" w="1613775">
                  <a:moveTo>
                    <a:pt x="0" y="0"/>
                  </a:moveTo>
                  <a:lnTo>
                    <a:pt x="1613775" y="0"/>
                  </a:lnTo>
                  <a:lnTo>
                    <a:pt x="1613775" y="1443740"/>
                  </a:lnTo>
                  <a:lnTo>
                    <a:pt x="0" y="1443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19" name="Google Shape;419;g39b7951dcad_0_340"/>
            <p:cNvSpPr txBox="1"/>
            <p:nvPr/>
          </p:nvSpPr>
          <p:spPr>
            <a:xfrm>
              <a:off x="0" y="-66675"/>
              <a:ext cx="1613700" cy="15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g39b7951dcad_0_340"/>
          <p:cNvSpPr txBox="1"/>
          <p:nvPr/>
        </p:nvSpPr>
        <p:spPr>
          <a:xfrm>
            <a:off x="4273500" y="1021125"/>
            <a:ext cx="9741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26232E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Your Turn!</a:t>
            </a:r>
            <a:endParaRPr b="0" i="0" sz="7000" u="none" cap="none" strike="noStrike">
              <a:solidFill>
                <a:srgbClr val="2623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9b7951dcad_0_340"/>
          <p:cNvSpPr txBox="1"/>
          <p:nvPr/>
        </p:nvSpPr>
        <p:spPr>
          <a:xfrm>
            <a:off x="4318350" y="2520925"/>
            <a:ext cx="9651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Wo</a:t>
            </a:r>
            <a:r>
              <a:rPr b="1" lang="en-US" sz="4500">
                <a:latin typeface="Cabin Condensed"/>
                <a:ea typeface="Cabin Condensed"/>
                <a:cs typeface="Cabin Condensed"/>
                <a:sym typeface="Cabin Condensed"/>
              </a:rPr>
              <a:t>rks</a:t>
            </a:r>
            <a:r>
              <a:rPr b="1" i="0" lang="en-US" sz="4500" u="none" cap="none" strike="noStrike">
                <a:solidFill>
                  <a:srgbClr val="000000"/>
                </a:solidFill>
                <a:latin typeface="Cabin Condensed"/>
                <a:ea typeface="Cabin Condensed"/>
                <a:cs typeface="Cabin Condensed"/>
                <a:sym typeface="Cabin Condensed"/>
              </a:rPr>
              <a:t>heet: </a:t>
            </a:r>
            <a:r>
              <a:rPr b="1" lang="en-US" sz="4500" u="sng">
                <a:solidFill>
                  <a:schemeClr val="hlink"/>
                </a:solidFill>
                <a:latin typeface="Cabin Condensed"/>
                <a:ea typeface="Cabin Condensed"/>
                <a:cs typeface="Cabin Condensed"/>
                <a:sym typeface="Cabin Condensed"/>
                <a:hlinkClick r:id="rId3"/>
              </a:rPr>
              <a:t>https://tinyurl.com/data-cleaning-2025</a:t>
            </a:r>
            <a:endParaRPr b="1" i="0" sz="4500" u="none" cap="none" strike="noStrike">
              <a:solidFill>
                <a:srgbClr val="000000"/>
              </a:solidFill>
              <a:latin typeface="Cabin Condensed"/>
              <a:ea typeface="Cabin Condensed"/>
              <a:cs typeface="Cabin Condensed"/>
              <a:sym typeface="Cabin Condensed"/>
            </a:endParaRPr>
          </a:p>
        </p:txBody>
      </p:sp>
      <p:sp>
        <p:nvSpPr>
          <p:cNvPr id="422" name="Google Shape;422;g39b7951dcad_0_340"/>
          <p:cNvSpPr/>
          <p:nvPr/>
        </p:nvSpPr>
        <p:spPr>
          <a:xfrm flipH="1">
            <a:off x="-874845" y="6182598"/>
            <a:ext cx="4710933" cy="4710933"/>
          </a:xfrm>
          <a:custGeom>
            <a:rect b="b" l="l" r="r" t="t"/>
            <a:pathLst>
              <a:path extrusionOk="0" h="4710933" w="4710933">
                <a:moveTo>
                  <a:pt x="4710933" y="0"/>
                </a:moveTo>
                <a:lnTo>
                  <a:pt x="0" y="0"/>
                </a:lnTo>
                <a:lnTo>
                  <a:pt x="0" y="4710933"/>
                </a:lnTo>
                <a:lnTo>
                  <a:pt x="4710933" y="4710933"/>
                </a:lnTo>
                <a:lnTo>
                  <a:pt x="47109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23" name="Google Shape;423;g39b7951dcad_0_340" title="Screenshot 2025-10-09 at 1.49.04 AM.png"/>
          <p:cNvPicPr preferRelativeResize="0"/>
          <p:nvPr/>
        </p:nvPicPr>
        <p:blipFill rotWithShape="1">
          <a:blip r:embed="rId5">
            <a:alphaModFix/>
          </a:blip>
          <a:srcRect b="0" l="0" r="57675" t="0"/>
          <a:stretch/>
        </p:blipFill>
        <p:spPr>
          <a:xfrm>
            <a:off x="3988499" y="6182600"/>
            <a:ext cx="5125125" cy="389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9b7951dcad_0_340" title="Screenshot 2025-10-09 at 1.49.28 AM.png"/>
          <p:cNvPicPr preferRelativeResize="0"/>
          <p:nvPr/>
        </p:nvPicPr>
        <p:blipFill rotWithShape="1">
          <a:blip r:embed="rId6">
            <a:alphaModFix/>
          </a:blip>
          <a:srcRect b="0" l="0" r="53413" t="0"/>
          <a:stretch/>
        </p:blipFill>
        <p:spPr>
          <a:xfrm>
            <a:off x="12939750" y="5128925"/>
            <a:ext cx="3673723" cy="500567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9b7951dcad_0_340"/>
          <p:cNvSpPr/>
          <p:nvPr/>
        </p:nvSpPr>
        <p:spPr>
          <a:xfrm>
            <a:off x="9613081" y="7195118"/>
            <a:ext cx="2827200" cy="87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6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8675" lIns="188675" spcFirstLastPara="1" rIns="188675" wrap="square" tIns="188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/>
              <a:buNone/>
            </a:pPr>
            <a:r>
              <a:t/>
            </a:r>
            <a:endParaRPr b="0" i="0" sz="2889" u="none" cap="none" strike="noStrik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g39b7951dcad_0_340"/>
          <p:cNvSpPr/>
          <p:nvPr/>
        </p:nvSpPr>
        <p:spPr>
          <a:xfrm>
            <a:off x="4514850" y="6404525"/>
            <a:ext cx="833400" cy="890700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9b7951dcad_0_340"/>
          <p:cNvSpPr/>
          <p:nvPr/>
        </p:nvSpPr>
        <p:spPr>
          <a:xfrm>
            <a:off x="13094025" y="7266575"/>
            <a:ext cx="1724100" cy="574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